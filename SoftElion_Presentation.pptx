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457200"/>
            <a:ext cx="1371600" cy="13716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029200"/>
            <a:ext cx="1828800" cy="18288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SoftElion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0">
                <a:solidFill>
                  <a:srgbClr val="E5E7EB"/>
                </a:solidFill>
              </a:defRPr>
            </a:pPr>
            <a:r>
              <a:t>IT Outsourcing Company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0">
                <a:solidFill>
                  <a:srgbClr val="D1D5DB"/>
                </a:solidFill>
              </a:defRPr>
            </a:pPr>
            <a:r>
              <a:t>Custom Software Development 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Хто ми такі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BBF24"/>
                </a:solidFill>
              </a:defRPr>
            </a:pPr>
            <a:r>
              <a:t>🚀 Заснована у 2020</a:t>
            </a:r>
          </a:p>
          <a:p>
            <a:pPr>
              <a:defRPr sz="1800">
                <a:solidFill>
                  <a:srgbClr val="E5E7EB"/>
                </a:solidFill>
              </a:defRPr>
            </a:pPr>
            <a:r>
              <a:t>     4+ роки досвіду на ринку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BBF24"/>
                </a:solidFill>
              </a:defRPr>
            </a:pPr>
            <a:r>
              <a:t>🌍 Міжнародна компанія</a:t>
            </a:r>
          </a:p>
          <a:p>
            <a:pPr>
              <a:defRPr sz="1800">
                <a:solidFill>
                  <a:srgbClr val="E5E7EB"/>
                </a:solidFill>
              </a:defRPr>
            </a:pPr>
            <a:r>
              <a:t>     Працюємо з клієнтами по всьому світу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0233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BBF24"/>
                </a:solidFill>
              </a:defRPr>
            </a:pPr>
            <a:r>
              <a:t>⭐ Рейтинг 4.9/5</a:t>
            </a:r>
          </a:p>
          <a:p>
            <a:pPr>
              <a:defRPr sz="1800">
                <a:solidFill>
                  <a:srgbClr val="E5E7EB"/>
                </a:solidFill>
              </a:defRPr>
            </a:pPr>
            <a:r>
              <a:t>     Від 150+ задоволених клієнтів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1206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BBF24"/>
                </a:solidFill>
              </a:defRPr>
            </a:pPr>
            <a:r>
              <a:t>✅ 500+ проектів</a:t>
            </a:r>
          </a:p>
          <a:p>
            <a:pPr>
              <a:defRPr sz="1800">
                <a:solidFill>
                  <a:srgbClr val="E5E7EB"/>
                </a:solidFill>
              </a:defRPr>
            </a:pPr>
            <a:r>
              <a:t>     Успішно доставлено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Що ми робимо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💻 Custom Software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🌐 Web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📱 Mobile App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468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🤖 AI &amp;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1089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⚙️ DevOps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1089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👥 Dedicated Teams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749039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🔧 Legacy Modernization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749039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✔️ Quality Assurance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38912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🔌 API Development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Custom Software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</a:defRPr>
            </a:pPr>
            <a:r>
              <a:t>1️⃣ Аналіз вимог</a:t>
            </a:r>
          </a:p>
          <a:p>
            <a:pPr>
              <a:defRPr sz="1600">
                <a:solidFill>
                  <a:srgbClr val="E5E7EB"/>
                </a:solidFill>
              </a:defRPr>
            </a:pPr>
            <a:r>
              <a:t>  Детальне вивчення бізнес-потреб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</a:defRPr>
            </a:pPr>
            <a:r>
              <a:t>2️⃣ UI/UX дизайн</a:t>
            </a:r>
          </a:p>
          <a:p>
            <a:pPr>
              <a:defRPr sz="1600">
                <a:solidFill>
                  <a:srgbClr val="E5E7EB"/>
                </a:solidFill>
              </a:defRPr>
            </a:pPr>
            <a:r>
              <a:t>  Створення інтуїтивних інтерфейсів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</a:defRPr>
            </a:pPr>
            <a:r>
              <a:t>3️⃣ Розробка</a:t>
            </a:r>
          </a:p>
          <a:p>
            <a:pPr>
              <a:defRPr sz="1600">
                <a:solidFill>
                  <a:srgbClr val="E5E7EB"/>
                </a:solidFill>
              </a:defRPr>
            </a:pPr>
            <a:r>
              <a:t>  Agile/Scrum методологія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</a:defRPr>
            </a:pPr>
            <a:r>
              <a:t>4️⃣ Тестування</a:t>
            </a:r>
          </a:p>
          <a:p>
            <a:pPr>
              <a:defRPr sz="1600">
                <a:solidFill>
                  <a:srgbClr val="E5E7EB"/>
                </a:solidFill>
              </a:defRPr>
            </a:pPr>
            <a:r>
              <a:t>  Автоматизоване та мануальне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</a:defRPr>
            </a:pPr>
            <a:r>
              <a:t>5️⃣ Деплоймент</a:t>
            </a:r>
          </a:p>
          <a:p>
            <a:pPr>
              <a:defRPr sz="1600">
                <a:solidFill>
                  <a:srgbClr val="E5E7EB"/>
                </a:solidFill>
              </a:defRPr>
            </a:pPr>
            <a:r>
              <a:t>  CI/CD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</a:defRPr>
            </a:pPr>
            <a:r>
              <a:t>6️⃣ Підтримка</a:t>
            </a:r>
          </a:p>
          <a:p>
            <a:pPr>
              <a:defRPr sz="1600">
                <a:solidFill>
                  <a:srgbClr val="E5E7EB"/>
                </a:solidFill>
              </a:defRPr>
            </a:pPr>
            <a:r>
              <a:t>  24/7 моніторинг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Технологічний стек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</a:defRPr>
            </a:pPr>
            <a:r>
              <a:t>▶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9164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E5E7EB"/>
                </a:solidFill>
              </a:defRPr>
            </a:pPr>
            <a:r>
              <a:t>React, Angular, Vue.js, Next.js, TypeScript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</a:defRPr>
            </a:pPr>
            <a:r>
              <a:t>▶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6032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E5E7EB"/>
                </a:solidFill>
              </a:defRPr>
            </a:pPr>
            <a:r>
              <a:t>Node.js, Python, Java, .NET, PHP, 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</a:defRPr>
            </a:pPr>
            <a:r>
              <a:t>▶ Mobile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290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E5E7EB"/>
                </a:solidFill>
              </a:defRPr>
            </a:pPr>
            <a:r>
              <a:t>React Native, Flutter, Swift, Kotlin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7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</a:defRPr>
            </a:pPr>
            <a:r>
              <a:t>▶ Databases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29768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E5E7EB"/>
                </a:solidFill>
              </a:defRPr>
            </a:pPr>
            <a:r>
              <a:t>PostgreSQL, MongoDB, Redis,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</a:defRPr>
            </a:pPr>
            <a:r>
              <a:t>▶ Cloud &amp; DevOps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663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E5E7EB"/>
                </a:solidFill>
              </a:defRPr>
            </a:pPr>
            <a:r>
              <a:t>AWS, Azure, GCP, Docker, Kubernetes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15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</a:defRPr>
            </a:pPr>
            <a:r>
              <a:t>▶ AI &amp;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03504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E5E7EB"/>
                </a:solidFill>
              </a:defRPr>
            </a:pPr>
            <a:r>
              <a:t>TensorFlow, PyTorch, OpenAI, Scikit-learn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Web &amp; Mobile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BBF24"/>
                </a:solidFill>
              </a:defRPr>
            </a:pPr>
            <a:r>
              <a:t>🌐 Web Development</a:t>
            </a:r>
          </a:p>
          <a:p>
            <a:pPr>
              <a:defRPr sz="1600">
                <a:solidFill>
                  <a:srgbClr val="E5E7EB"/>
                </a:solidFill>
              </a:defRPr>
            </a:pPr>
            <a:r>
              <a:t>• Progressive Web Apps</a:t>
            </a:r>
          </a:p>
          <a:p>
            <a:pPr>
              <a:defRPr sz="1600">
                <a:solidFill>
                  <a:srgbClr val="E5E7EB"/>
                </a:solidFill>
              </a:defRPr>
            </a:pPr>
            <a:r>
              <a:t>• E-commerce платформи</a:t>
            </a:r>
          </a:p>
          <a:p>
            <a:pPr>
              <a:defRPr sz="1600">
                <a:solidFill>
                  <a:srgbClr val="E5E7EB"/>
                </a:solidFill>
              </a:defRPr>
            </a:pPr>
            <a:r>
              <a:t>• SaaS рішення</a:t>
            </a:r>
          </a:p>
          <a:p>
            <a:pPr>
              <a:defRPr sz="1600">
                <a:solidFill>
                  <a:srgbClr val="E5E7EB"/>
                </a:solidFill>
              </a:defRPr>
            </a:pPr>
            <a:r>
              <a:t>• Real-time додатки</a:t>
            </a:r>
          </a:p>
          <a:p>
            <a:pPr>
              <a:defRPr sz="1600">
                <a:solidFill>
                  <a:srgbClr val="E5E7EB"/>
                </a:solidFill>
              </a:defRPr>
            </a:pPr>
            <a:r>
              <a:t>• SEO оптимізація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BBF24"/>
                </a:solidFill>
              </a:defRPr>
            </a:pPr>
            <a:r>
              <a:t>📱 Mobile Development</a:t>
            </a:r>
          </a:p>
          <a:p>
            <a:pPr>
              <a:defRPr sz="1600">
                <a:solidFill>
                  <a:srgbClr val="E5E7EB"/>
                </a:solidFill>
              </a:defRPr>
            </a:pPr>
            <a:r>
              <a:t>• iOS &amp; Android</a:t>
            </a:r>
          </a:p>
          <a:p>
            <a:pPr>
              <a:defRPr sz="1600">
                <a:solidFill>
                  <a:srgbClr val="E5E7EB"/>
                </a:solidFill>
              </a:defRPr>
            </a:pPr>
            <a:r>
              <a:t>• Cross-platform</a:t>
            </a:r>
          </a:p>
          <a:p>
            <a:pPr>
              <a:defRPr sz="1600">
                <a:solidFill>
                  <a:srgbClr val="E5E7EB"/>
                </a:solidFill>
              </a:defRPr>
            </a:pPr>
            <a:r>
              <a:t>• Нативна розробка</a:t>
            </a:r>
          </a:p>
          <a:p>
            <a:pPr>
              <a:defRPr sz="1600">
                <a:solidFill>
                  <a:srgbClr val="E5E7EB"/>
                </a:solidFill>
              </a:defRPr>
            </a:pPr>
            <a:r>
              <a:t>• Push-повідомлення</a:t>
            </a:r>
          </a:p>
          <a:p>
            <a:pPr>
              <a:defRPr sz="1600">
                <a:solidFill>
                  <a:srgbClr val="E5E7EB"/>
                </a:solidFill>
              </a:defRPr>
            </a:pPr>
            <a:r>
              <a:t>• App Store оптимізація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AI &amp;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</a:defRPr>
            </a:pPr>
            <a:r>
              <a:t>🤖 Чат-боти</a:t>
            </a:r>
          </a:p>
          <a:p>
            <a:pPr>
              <a:defRPr sz="1400">
                <a:solidFill>
                  <a:srgbClr val="E5E7EB"/>
                </a:solidFill>
              </a:defRPr>
            </a:pPr>
            <a:r>
              <a:t>  GPT інтеграція,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</a:defRPr>
            </a:pPr>
            <a:r>
              <a:t>📊 Предиктивна аналітика</a:t>
            </a:r>
          </a:p>
          <a:p>
            <a:pPr>
              <a:defRPr sz="1400">
                <a:solidFill>
                  <a:srgbClr val="E5E7EB"/>
                </a:solidFill>
              </a:defRPr>
            </a:pPr>
            <a:r>
              <a:t>  Прогнозування трендів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</a:defRPr>
            </a:pPr>
            <a:r>
              <a:t>👁️ Computer Vision</a:t>
            </a:r>
          </a:p>
          <a:p>
            <a:pPr>
              <a:defRPr sz="1400">
                <a:solidFill>
                  <a:srgbClr val="E5E7EB"/>
                </a:solidFill>
              </a:defRPr>
            </a:pPr>
            <a:r>
              <a:t>  Розпізнавання об'єктів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</a:defRPr>
            </a:pPr>
            <a:r>
              <a:t>🗣️ NLP</a:t>
            </a:r>
          </a:p>
          <a:p>
            <a:pPr>
              <a:defRPr sz="1400">
                <a:solidFill>
                  <a:srgbClr val="E5E7EB"/>
                </a:solidFill>
              </a:defRPr>
            </a:pPr>
            <a:r>
              <a:t>  Аналіз тексту, переклад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</a:defRPr>
            </a:pPr>
            <a:r>
              <a:t>🎯 Рекомендації</a:t>
            </a:r>
          </a:p>
          <a:p>
            <a:pPr>
              <a:defRPr sz="1400">
                <a:solidFill>
                  <a:srgbClr val="E5E7EB"/>
                </a:solidFill>
              </a:defRPr>
            </a:pPr>
            <a:r>
              <a:t>  Персоналізація контенту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</a:defRPr>
            </a:pPr>
            <a:r>
              <a:t>🔄 Автоматизація</a:t>
            </a:r>
          </a:p>
          <a:p>
            <a:pPr>
              <a:defRPr sz="1400">
                <a:solidFill>
                  <a:srgbClr val="E5E7EB"/>
                </a:solidFill>
              </a:defRPr>
            </a:pPr>
            <a:r>
              <a:t>  RPA, інтелектуальна автоматизація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DevOps &amp; Cloud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</a:defRPr>
            </a:pPr>
            <a:r>
              <a:t>☁️ Cloud Migration</a:t>
            </a:r>
          </a:p>
          <a:p>
            <a:pPr>
              <a:defRPr sz="1400">
                <a:solidFill>
                  <a:srgbClr val="E5E7EB"/>
                </a:solidFill>
              </a:defRPr>
            </a:pPr>
            <a:r>
              <a:t>  AWS, Azure, GCP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</a:defRPr>
            </a:pPr>
            <a:r>
              <a:t>🔄 CI/CD</a:t>
            </a:r>
          </a:p>
          <a:p>
            <a:pPr>
              <a:defRPr sz="1400">
                <a:solidFill>
                  <a:srgbClr val="E5E7EB"/>
                </a:solidFill>
              </a:defRPr>
            </a:pPr>
            <a:r>
              <a:t>  Jenkins, GitLab 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</a:defRPr>
            </a:pPr>
            <a:r>
              <a:t>🐳 Containerization</a:t>
            </a:r>
          </a:p>
          <a:p>
            <a:pPr>
              <a:defRPr sz="1400">
                <a:solidFill>
                  <a:srgbClr val="E5E7EB"/>
                </a:solidFill>
              </a:defRPr>
            </a:pPr>
            <a:r>
              <a:t>  Docker, Kubernetes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</a:defRPr>
            </a:pPr>
            <a:r>
              <a:t>📈 Monitoring</a:t>
            </a:r>
          </a:p>
          <a:p>
            <a:pPr>
              <a:defRPr sz="1400">
                <a:solidFill>
                  <a:srgbClr val="E5E7EB"/>
                </a:solidFill>
              </a:defRPr>
            </a:pPr>
            <a:r>
              <a:t>  Prometheus, Grafana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</a:defRPr>
            </a:pPr>
            <a:r>
              <a:t>🔒 Security</a:t>
            </a:r>
          </a:p>
          <a:p>
            <a:pPr>
              <a:defRPr sz="1400">
                <a:solidFill>
                  <a:srgbClr val="E5E7EB"/>
                </a:solidFill>
              </a:defRPr>
            </a:pPr>
            <a:r>
              <a:t>  Infrastructure as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</a:defRPr>
            </a:pPr>
            <a:r>
              <a:t>⚡ Performance</a:t>
            </a:r>
          </a:p>
          <a:p>
            <a:pPr>
              <a:defRPr sz="1400">
                <a:solidFill>
                  <a:srgbClr val="E5E7EB"/>
                </a:solidFill>
              </a:defRPr>
            </a:pPr>
            <a:r>
              <a:t>  Auto-scaling, CDN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946EF"/>
          </a:solidFill>
          <a:ln>
            <a:solidFill>
              <a:srgbClr val="D94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Dedicated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✅ Повний контроль над командою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468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✅ Гнучке масштабування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1089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✅ Прозора комунікація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7490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✅ Економія до 60% бюджету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3891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✅ Швидкий старт (2-4 тижні)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✅ Виділені експерти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FBBF24"/>
                </a:solidFill>
              </a:defRPr>
            </a:pPr>
            <a:r>
              <a:t>PM • Tech Lead • Developers • QA • DevOps • UI/UX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Чому обирають SoftElion?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</a:defRPr>
            </a:pPr>
            <a:r>
              <a:t>🏆 500+ проектів</a:t>
            </a:r>
          </a:p>
          <a:p>
            <a:pPr>
              <a:defRPr sz="1600">
                <a:solidFill>
                  <a:srgbClr val="E5E7EB"/>
                </a:solidFill>
              </a:defRPr>
            </a:pPr>
            <a:r>
              <a:t>    Доведена експертиза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</a:defRPr>
            </a:pPr>
            <a:r>
              <a:t>⚡ Time-to-Market</a:t>
            </a:r>
          </a:p>
          <a:p>
            <a:pPr>
              <a:defRPr sz="1600">
                <a:solidFill>
                  <a:srgbClr val="E5E7EB"/>
                </a:solidFill>
              </a:defRPr>
            </a:pPr>
            <a:r>
              <a:t>    Швидка доставка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</a:defRPr>
            </a:pPr>
            <a:r>
              <a:t>💰 Оптимальна ціна</a:t>
            </a:r>
          </a:p>
          <a:p>
            <a:pPr>
              <a:defRPr sz="1600">
                <a:solidFill>
                  <a:srgbClr val="E5E7EB"/>
                </a:solidFill>
              </a:defRPr>
            </a:pPr>
            <a:r>
              <a:t>    До 60% економії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</a:defRPr>
            </a:pPr>
            <a:r>
              <a:t>🛡️ Гарантія якості</a:t>
            </a:r>
          </a:p>
          <a:p>
            <a:pPr>
              <a:defRPr sz="1600">
                <a:solidFill>
                  <a:srgbClr val="E5E7EB"/>
                </a:solidFill>
              </a:defRPr>
            </a:pPr>
            <a:r>
              <a:t>    ISO стандарти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</a:defRPr>
            </a:pPr>
            <a:r>
              <a:t>🌍 24/7 підтримка</a:t>
            </a:r>
          </a:p>
          <a:p>
            <a:pPr>
              <a:defRPr sz="1600">
                <a:solidFill>
                  <a:srgbClr val="E5E7EB"/>
                </a:solidFill>
              </a:defRPr>
            </a:pPr>
            <a:r>
              <a:t>    Різні часові зони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</a:defRPr>
            </a:pPr>
            <a:r>
              <a:t>🤝 Agile</a:t>
            </a:r>
          </a:p>
          <a:p>
            <a:pPr>
              <a:defRPr sz="1600">
                <a:solidFill>
                  <a:srgbClr val="E5E7EB"/>
                </a:solidFill>
              </a:defRPr>
            </a:pPr>
            <a:r>
              <a:t>    Щоденні звіти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457200"/>
            <a:ext cx="1371600" cy="13716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029200"/>
            <a:ext cx="1828800" cy="18288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Let's Build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0">
                <a:solidFill>
                  <a:srgbClr val="FBBF24"/>
                </a:solidFill>
              </a:defRPr>
            </a:pPr>
            <a:r>
              <a:t>🌐 www.softelion.com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0">
                <a:solidFill>
                  <a:srgbClr val="E5E7EB"/>
                </a:solidFill>
              </a:defRPr>
            </a:pPr>
            <a:r>
              <a:t>📧 contact@softelion.com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D1D5DB"/>
                </a:solidFill>
              </a:defRPr>
            </a:pPr>
            <a:r>
              <a:t>Transform Your Ideas Into Reality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